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Hanken Grotesk Medium"/>
      <p:regular r:id="rId21"/>
      <p:bold r:id="rId22"/>
      <p:italic r:id="rId23"/>
      <p:boldItalic r:id="rId24"/>
    </p:embeddedFont>
    <p:embeddedFont>
      <p:font typeface="Neuton Light"/>
      <p:regular r:id="rId25"/>
      <p:bold r:id="rId26"/>
      <p:boldItalic r:id="rId27"/>
    </p:embeddedFont>
    <p:embeddedFont>
      <p:font typeface="Hanken Grotesk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Hanken Grotesk SemiBold"/>
      <p:regular r:id="rId36"/>
      <p:bold r:id="rId37"/>
      <p:italic r:id="rId38"/>
      <p:boldItalic r:id="rId39"/>
    </p:embeddedFont>
    <p:embeddedFont>
      <p:font typeface="Neuton"/>
      <p:regular r:id="rId40"/>
      <p:bold r:id="rId41"/>
      <p:italic r:id="rId42"/>
    </p:embeddedFont>
    <p:embeddedFont>
      <p:font typeface="Hanken Grotesk 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uton-regular.fntdata"/><Relationship Id="rId20" Type="http://schemas.openxmlformats.org/officeDocument/2006/relationships/slide" Target="slides/slide15.xml"/><Relationship Id="rId42" Type="http://schemas.openxmlformats.org/officeDocument/2006/relationships/font" Target="fonts/Neuton-italic.fntdata"/><Relationship Id="rId41" Type="http://schemas.openxmlformats.org/officeDocument/2006/relationships/font" Target="fonts/Neuton-bold.fntdata"/><Relationship Id="rId22" Type="http://schemas.openxmlformats.org/officeDocument/2006/relationships/font" Target="fonts/HankenGroteskMedium-bold.fntdata"/><Relationship Id="rId44" Type="http://schemas.openxmlformats.org/officeDocument/2006/relationships/font" Target="fonts/HankenGroteskLight-bold.fntdata"/><Relationship Id="rId21" Type="http://schemas.openxmlformats.org/officeDocument/2006/relationships/font" Target="fonts/HankenGroteskMedium-regular.fntdata"/><Relationship Id="rId43" Type="http://schemas.openxmlformats.org/officeDocument/2006/relationships/font" Target="fonts/HankenGroteskLight-regular.fntdata"/><Relationship Id="rId24" Type="http://schemas.openxmlformats.org/officeDocument/2006/relationships/font" Target="fonts/HankenGroteskMedium-boldItalic.fntdata"/><Relationship Id="rId46" Type="http://schemas.openxmlformats.org/officeDocument/2006/relationships/font" Target="fonts/HankenGroteskLight-boldItalic.fntdata"/><Relationship Id="rId23" Type="http://schemas.openxmlformats.org/officeDocument/2006/relationships/font" Target="fonts/HankenGroteskMedium-italic.fntdata"/><Relationship Id="rId45" Type="http://schemas.openxmlformats.org/officeDocument/2006/relationships/font" Target="fonts/HankenGrotesk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eutonLight-bold.fntdata"/><Relationship Id="rId25" Type="http://schemas.openxmlformats.org/officeDocument/2006/relationships/font" Target="fonts/NeutonLight-regular.fntdata"/><Relationship Id="rId28" Type="http://schemas.openxmlformats.org/officeDocument/2006/relationships/font" Target="fonts/HankenGrotesk-regular.fntdata"/><Relationship Id="rId27" Type="http://schemas.openxmlformats.org/officeDocument/2006/relationships/font" Target="fonts/Neuton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ankenGrotesk-boldItalic.fntdata"/><Relationship Id="rId30" Type="http://schemas.openxmlformats.org/officeDocument/2006/relationships/font" Target="fonts/HankenGrotesk-italic.fntdata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HankenGroteskSemiBold-bold.fntdata"/><Relationship Id="rId14" Type="http://schemas.openxmlformats.org/officeDocument/2006/relationships/slide" Target="slides/slide9.xml"/><Relationship Id="rId36" Type="http://schemas.openxmlformats.org/officeDocument/2006/relationships/font" Target="fonts/HankenGrotesk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HankenGrotesk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HankenGrotesk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e093f1d1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e093f1d1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093f1d114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e093f1d114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093f1d114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e093f1d114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093f1d114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e093f1d114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e093f1d114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e093f1d114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e093f1d114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e093f1d114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e093f1d114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e093f1d114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e093f1d114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e093f1d114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093f1d114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e093f1d114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e093f1d114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e093f1d114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e093f1d114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e093f1d114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e093f1d114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e093f1d114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093f1d114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e093f1d114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e093f1d114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e093f1d114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e093f1d114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e093f1d114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10153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1015325" y="1425010"/>
            <a:ext cx="7410900" cy="177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600">
                <a:latin typeface="Arial"/>
                <a:ea typeface="Arial"/>
                <a:cs typeface="Arial"/>
                <a:sym typeface="Arial"/>
              </a:rPr>
              <a:t>Evaluating Washington, D.C. as a Disability-Friendly City</a:t>
            </a:r>
            <a:endParaRPr sz="46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t/>
            </a:r>
            <a:endParaRPr sz="3600"/>
          </a:p>
        </p:txBody>
      </p:sp>
      <p:sp>
        <p:nvSpPr>
          <p:cNvPr id="621" name="Google Shape;621;p47"/>
          <p:cNvSpPr txBox="1"/>
          <p:nvPr>
            <p:ph idx="1" type="body"/>
          </p:nvPr>
        </p:nvSpPr>
        <p:spPr>
          <a:xfrm>
            <a:off x="667075" y="3731400"/>
            <a:ext cx="2452200" cy="1113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500"/>
              <a:t>Asher Scott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500"/>
              <a:t>Data 205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500"/>
              <a:t>CRN 33155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500"/>
              <a:t>Professor Perine</a:t>
            </a:r>
            <a:endParaRPr b="1" sz="1500"/>
          </a:p>
        </p:txBody>
      </p:sp>
      <p:sp>
        <p:nvSpPr>
          <p:cNvPr id="622" name="Google Shape;622;p47"/>
          <p:cNvSpPr txBox="1"/>
          <p:nvPr>
            <p:ph idx="2" type="subTitle"/>
          </p:nvPr>
        </p:nvSpPr>
        <p:spPr>
          <a:xfrm>
            <a:off x="1387713" y="2200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300"/>
              <a:t>Capstone Project</a:t>
            </a:r>
            <a:endParaRPr sz="1300"/>
          </a:p>
        </p:txBody>
      </p:sp>
      <p:sp>
        <p:nvSpPr>
          <p:cNvPr id="623" name="Google Shape;623;p47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24" name="Google Shape;624;p47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Spring Semester</a:t>
            </a:r>
            <a:endParaRPr/>
          </a:p>
        </p:txBody>
      </p:sp>
      <p:sp>
        <p:nvSpPr>
          <p:cNvPr id="625" name="Google Shape;625;p47"/>
          <p:cNvSpPr txBox="1"/>
          <p:nvPr/>
        </p:nvSpPr>
        <p:spPr>
          <a:xfrm>
            <a:off x="544175" y="2984300"/>
            <a:ext cx="224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Is the 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city Compliant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or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Complicit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???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631" name="Google Shape;631;p48"/>
          <p:cNvSpPr txBox="1"/>
          <p:nvPr/>
        </p:nvSpPr>
        <p:spPr>
          <a:xfrm>
            <a:off x="392750" y="1789150"/>
            <a:ext cx="33405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Definition: </a:t>
            </a: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 disability friendly city means accessible sidewalks, ramps, bus stops, and crossings.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Four parts: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Who disabled residents are and where they live.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Infrastructure compliance.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Distance to barriers and transit.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Grades for each ward.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2" name="Google Shape;632;p48"/>
          <p:cNvSpPr txBox="1"/>
          <p:nvPr/>
        </p:nvSpPr>
        <p:spPr>
          <a:xfrm>
            <a:off x="784975" y="816175"/>
            <a:ext cx="7267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Project Outline</a:t>
            </a:r>
            <a:endParaRPr sz="3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33" name="Google Shape;6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194" y="2132879"/>
            <a:ext cx="4897956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9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639" name="Google Shape;639;p49"/>
          <p:cNvSpPr txBox="1"/>
          <p:nvPr>
            <p:ph type="title"/>
          </p:nvPr>
        </p:nvSpPr>
        <p:spPr>
          <a:xfrm>
            <a:off x="593775" y="984700"/>
            <a:ext cx="79482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640" name="Google Shape;640;p49"/>
          <p:cNvSpPr txBox="1"/>
          <p:nvPr/>
        </p:nvSpPr>
        <p:spPr>
          <a:xfrm>
            <a:off x="593775" y="2001200"/>
            <a:ext cx="40902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Used 10  datasets from D.C. Open Data Portal.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34,000+ curb ramps, 24,000 sidewalk records.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Cleaning took 40% of my time.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Used pandas, geopandas, QGIS.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Example: 479 barrier text strings → 11 categories → high/medium/low impact.</a:t>
            </a:r>
            <a:endParaRPr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No valid analysis without preprocessing.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41" name="Google Shape;641;p49" title="datacl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975" y="1228825"/>
            <a:ext cx="3776200" cy="29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7" name="Google Shape;647;p5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8" name="Google Shape;648;p5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9" name="Google Shape;649;p5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50" name="Google Shape;6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1625" y="491800"/>
            <a:ext cx="2982374" cy="2153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0" title="DC_Disabilities.png"/>
          <p:cNvPicPr preferRelativeResize="0"/>
          <p:nvPr/>
        </p:nvPicPr>
        <p:blipFill rotWithShape="1">
          <a:blip r:embed="rId4">
            <a:alphaModFix/>
          </a:blip>
          <a:srcRect b="0" l="0" r="-7724" t="0"/>
          <a:stretch/>
        </p:blipFill>
        <p:spPr>
          <a:xfrm>
            <a:off x="4278486" y="2699750"/>
            <a:ext cx="4246564" cy="23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0800" y="540387"/>
            <a:ext cx="2982384" cy="21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0"/>
          <p:cNvSpPr txBox="1"/>
          <p:nvPr/>
        </p:nvSpPr>
        <p:spPr>
          <a:xfrm>
            <a:off x="0" y="2699775"/>
            <a:ext cx="3360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Disability is not evenly distributed.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Under 18: 4.5%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18–64: 8.8%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65+: 42.3% (nearly half of seniors)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Most common: ambulatory disabilities (40,000 residents).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Ramps and sidewalks directly affect this group.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4" name="Google Shape;654;p50"/>
          <p:cNvSpPr txBox="1"/>
          <p:nvPr>
            <p:ph type="title"/>
          </p:nvPr>
        </p:nvSpPr>
        <p:spPr>
          <a:xfrm>
            <a:off x="263325" y="1051725"/>
            <a:ext cx="2625300" cy="131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Disability Population by Age and Type</a:t>
            </a:r>
            <a:endParaRPr sz="2400"/>
          </a:p>
        </p:txBody>
      </p:sp>
      <p:sp>
        <p:nvSpPr>
          <p:cNvPr id="655" name="Google Shape;655;p50"/>
          <p:cNvSpPr txBox="1"/>
          <p:nvPr/>
        </p:nvSpPr>
        <p:spPr>
          <a:xfrm>
            <a:off x="1411975" y="127150"/>
            <a:ext cx="12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1" name="Google Shape;661;p5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2" name="Google Shape;662;p5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p5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4" name="Google Shape;664;p51"/>
          <p:cNvSpPr txBox="1"/>
          <p:nvPr>
            <p:ph idx="1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1300"/>
          </a:p>
        </p:txBody>
      </p:sp>
      <p:pic>
        <p:nvPicPr>
          <p:cNvPr id="665" name="Google Shape;6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325" y="2111425"/>
            <a:ext cx="4933500" cy="30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11425"/>
            <a:ext cx="4292647" cy="303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1"/>
          <p:cNvSpPr txBox="1"/>
          <p:nvPr/>
        </p:nvSpPr>
        <p:spPr>
          <a:xfrm>
            <a:off x="3926075" y="624525"/>
            <a:ext cx="52839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Sidewalks: Excellent (14,000), but Good only 3,200.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Missing: 3,500. Failed: 1,800.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Signals: Type A (noncompliant), Type B (noncompliant), Type C (compliant).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About 50% of signals are noncompliant.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81% of areas lack an audible crosswalk.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8" name="Google Shape;668;p51"/>
          <p:cNvSpPr txBox="1"/>
          <p:nvPr/>
        </p:nvSpPr>
        <p:spPr>
          <a:xfrm>
            <a:off x="276725" y="872325"/>
            <a:ext cx="37392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Comparisons Part 1 – Sidewalks and Signals</a:t>
            </a:r>
            <a:endParaRPr b="1" sz="2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2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4" name="Google Shape;674;p5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5" name="Google Shape;675;p5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6" name="Google Shape;676;p5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7" name="Google Shape;677;p52"/>
          <p:cNvSpPr txBox="1"/>
          <p:nvPr>
            <p:ph idx="1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8" name="Google Shape;67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619" y="2106550"/>
            <a:ext cx="4836956" cy="30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72800"/>
            <a:ext cx="4207768" cy="30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2"/>
          <p:cNvSpPr txBox="1"/>
          <p:nvPr/>
        </p:nvSpPr>
        <p:spPr>
          <a:xfrm>
            <a:off x="4072675" y="564600"/>
            <a:ext cx="49152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Curb ramps: Noncompliant (16,000) &gt; Good (11,000).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Fair and missing: ~8,600 each.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Bus stops: 67.2% compliant, 32.8% noncompliant.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Fair: 14,200, Good: 7,800, Noncompliant: 10,800.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Sidewalks and ramps are the worst. Signals and bus stops are slightly better but still have gaps.</a:t>
            </a:r>
            <a:endParaRPr sz="1300"/>
          </a:p>
        </p:txBody>
      </p:sp>
      <p:sp>
        <p:nvSpPr>
          <p:cNvPr id="681" name="Google Shape;681;p52"/>
          <p:cNvSpPr txBox="1"/>
          <p:nvPr/>
        </p:nvSpPr>
        <p:spPr>
          <a:xfrm>
            <a:off x="158225" y="907250"/>
            <a:ext cx="3914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Comparisons Part 2 – Curb Ramps and Bus Stops</a:t>
            </a:r>
            <a:endParaRPr b="1" sz="2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7" name="Google Shape;687;p53"/>
          <p:cNvSpPr/>
          <p:nvPr/>
        </p:nvSpPr>
        <p:spPr>
          <a:xfrm>
            <a:off x="372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1"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5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9" name="Google Shape;689;p5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90" name="Google Shape;690;p53" title="DC_Dis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2231450"/>
            <a:ext cx="4130838" cy="29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 txBox="1"/>
          <p:nvPr/>
        </p:nvSpPr>
        <p:spPr>
          <a:xfrm>
            <a:off x="4875000" y="542013"/>
            <a:ext cx="4131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Calculated distance to nearest ADA bus stop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Based on ward centroids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Distances range: ~60m to 300m+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 variation in accessibility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Metro access even more limited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Median distance: 1,038 meters (~0.6 miles)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2" name="Google Shape;69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388" y="2231450"/>
            <a:ext cx="4336012" cy="29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53"/>
          <p:cNvSpPr txBox="1"/>
          <p:nvPr/>
        </p:nvSpPr>
        <p:spPr>
          <a:xfrm>
            <a:off x="158225" y="1007475"/>
            <a:ext cx="3281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Distance to Transit and Sidewalk Conditions</a:t>
            </a:r>
            <a:endParaRPr b="1" sz="2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53"/>
          <p:cNvSpPr txBox="1"/>
          <p:nvPr/>
        </p:nvSpPr>
        <p:spPr>
          <a:xfrm>
            <a:off x="4572000" y="122500"/>
            <a:ext cx="9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4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0" name="Google Shape;700;p5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1" name="Google Shape;701;p5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2" name="Google Shape;702;p5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03" name="Google Shape;70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538" y="670774"/>
            <a:ext cx="4874253" cy="15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5913" y="2257425"/>
            <a:ext cx="4943475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4"/>
          <p:cNvSpPr txBox="1"/>
          <p:nvPr/>
        </p:nvSpPr>
        <p:spPr>
          <a:xfrm>
            <a:off x="263550" y="2587613"/>
            <a:ext cx="33702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edian distance to nearest barrier: 160 meters.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Most common high impact barriers: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No sidewalk: 3,100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Vertical displacement: 2,900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Population-weighted median to high impact barrier: 199 meters.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You can't go a couple blocks without a failed asset.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54"/>
          <p:cNvSpPr txBox="1"/>
          <p:nvPr/>
        </p:nvSpPr>
        <p:spPr>
          <a:xfrm>
            <a:off x="633750" y="955113"/>
            <a:ext cx="3000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Barrier Distance by Type and Impact Level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54"/>
          <p:cNvSpPr txBox="1"/>
          <p:nvPr/>
        </p:nvSpPr>
        <p:spPr>
          <a:xfrm>
            <a:off x="4572000" y="122500"/>
            <a:ext cx="9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5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3" name="Google Shape;713;p55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4" name="Google Shape;714;p55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5" name="Google Shape;715;p5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16" name="Google Shape;71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8225" y="2571750"/>
            <a:ext cx="59436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863" y="656300"/>
            <a:ext cx="4876837" cy="19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5"/>
          <p:cNvSpPr txBox="1"/>
          <p:nvPr/>
        </p:nvSpPr>
        <p:spPr>
          <a:xfrm>
            <a:off x="0" y="2158425"/>
            <a:ext cx="30720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Weights by mobility importance: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Bus stops: 3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Curb ramps: 1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APS signals: 2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Metro stations: 10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Per 1,000 disabled residents: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Ward 2 highest: 1,724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Ward 8 lowest: 362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Ward 8 has the largest disabled population but &lt;1/4 infrastructure per capita.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Not just compliance. It's distribution.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55"/>
          <p:cNvSpPr txBox="1"/>
          <p:nvPr/>
        </p:nvSpPr>
        <p:spPr>
          <a:xfrm>
            <a:off x="192425" y="766800"/>
            <a:ext cx="3459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Per Ward Findings – Weighted Infrastructure Scores</a:t>
            </a:r>
            <a:endParaRPr sz="2200"/>
          </a:p>
        </p:txBody>
      </p:sp>
      <p:sp>
        <p:nvSpPr>
          <p:cNvPr id="720" name="Google Shape;720;p55"/>
          <p:cNvSpPr txBox="1"/>
          <p:nvPr>
            <p:ph idx="1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  <a:endParaRPr b="1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6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Grade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6" name="Google Shape;726;p56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7" name="Google Shape;727;p56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8" name="Google Shape;728;p5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29" name="Google Shape;729;p56" title="figure1_ada_compliance_bar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52325"/>
            <a:ext cx="5637402" cy="279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56" title="figure3_ada_compliance_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350" y="1954875"/>
            <a:ext cx="3245650" cy="3188623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6"/>
          <p:cNvSpPr txBox="1"/>
          <p:nvPr/>
        </p:nvSpPr>
        <p:spPr>
          <a:xfrm>
            <a:off x="2773725" y="570688"/>
            <a:ext cx="38172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Grading scale: A=80+, B=65–79, C=45–64, D=25–44, F=&lt;25.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Ward 2 highest: 59.3 (C)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Ward 1 lowest: 36.9 (D)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No ward scored above 60. No Bs or As.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56"/>
          <p:cNvSpPr txBox="1"/>
          <p:nvPr/>
        </p:nvSpPr>
        <p:spPr>
          <a:xfrm>
            <a:off x="280875" y="767050"/>
            <a:ext cx="2380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ADA Compliance Scores by Ward</a:t>
            </a:r>
            <a:endParaRPr b="1" sz="2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7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8" name="Google Shape;738;p5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9" name="Google Shape;739;p5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0" name="Google Shape;740;p5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41" name="Google Shape;741;p57" title="figure2_ada_asset_qua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650" y="2124100"/>
            <a:ext cx="6098350" cy="30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7"/>
          <p:cNvSpPr txBox="1"/>
          <p:nvPr/>
        </p:nvSpPr>
        <p:spPr>
          <a:xfrm>
            <a:off x="0" y="1874425"/>
            <a:ext cx="29667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Average ward grade: 49.23 (C range). Best: Ward 2 (59.30, C). Worst: Ward 1 (36.90, D)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Grade distribution: 6 wards (75%) received a C; 2 wards (25%) received a D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Ward 2: Highest bus stop compliance (66%), but only 58% curb ramps and 56% sidewalks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Ward 8: Lowest curb ramp compliance (45%) and lowest APS signal compliance (51%)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Key takeaway: No single ward performed well across all four asset types</a:t>
            </a:r>
            <a:endParaRPr sz="1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57"/>
          <p:cNvSpPr txBox="1"/>
          <p:nvPr/>
        </p:nvSpPr>
        <p:spPr>
          <a:xfrm>
            <a:off x="2766750" y="1046338"/>
            <a:ext cx="379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ADA </a:t>
            </a: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Asset-Level Breakdown</a:t>
            </a:r>
            <a:endParaRPr b="1" sz="22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57"/>
          <p:cNvSpPr txBox="1"/>
          <p:nvPr/>
        </p:nvSpPr>
        <p:spPr>
          <a:xfrm>
            <a:off x="6071850" y="122500"/>
            <a:ext cx="30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Grade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The vision</a:t>
            </a:r>
            <a:endParaRPr/>
          </a:p>
        </p:txBody>
      </p:sp>
      <p:pic>
        <p:nvPicPr>
          <p:cNvPr id="750" name="Google Shape;750;p58" title="cartoon-man-thinking-wondering-hand-drawn-illustrator-free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425" y="976125"/>
            <a:ext cx="3458050" cy="34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58"/>
          <p:cNvSpPr txBox="1"/>
          <p:nvPr/>
        </p:nvSpPr>
        <p:spPr>
          <a:xfrm>
            <a:off x="789950" y="1856200"/>
            <a:ext cx="33177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Based on everything you've seen: Is D.C. disability friendly?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My answer: No.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D.C. has systems, plans, and inventories.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But infrastructure is not up to ADA regulation.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Ramps noncompliant. Sidewalks failed. Hundreds of audible crosswalks missing.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Gap between policy and reality is wide.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58"/>
          <p:cNvSpPr txBox="1"/>
          <p:nvPr/>
        </p:nvSpPr>
        <p:spPr>
          <a:xfrm>
            <a:off x="789950" y="825275"/>
            <a:ext cx="3000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What Did I Officially Find? My Conclusions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9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8" name="Google Shape;758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9" name="Google Shape;759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0" name="Google Shape;760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61" name="Google Shape;761;p59" title="Correlat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203" y="1142100"/>
            <a:ext cx="5108796" cy="3818426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9"/>
          <p:cNvSpPr txBox="1"/>
          <p:nvPr/>
        </p:nvSpPr>
        <p:spPr>
          <a:xfrm>
            <a:off x="333525" y="2274625"/>
            <a:ext cx="31599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Bus stop compliance: moderate positive (0.579) – wealth helps.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Curb ramps: almost none (-0.004).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APS signals: moderate negative (-0.454).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Overall ADA grade: very weak (0.096).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Takeaway: Income predicts some assets, not others.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Overall compliance is nearly independent of wealth.</a:t>
            </a:r>
            <a:endParaRPr sz="1300"/>
          </a:p>
        </p:txBody>
      </p:sp>
      <p:sp>
        <p:nvSpPr>
          <p:cNvPr id="763" name="Google Shape;763;p59"/>
          <p:cNvSpPr txBox="1"/>
          <p:nvPr/>
        </p:nvSpPr>
        <p:spPr>
          <a:xfrm>
            <a:off x="393925" y="861200"/>
            <a:ext cx="31599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Correlations with Median Household Income</a:t>
            </a:r>
            <a:endParaRPr sz="2200"/>
          </a:p>
        </p:txBody>
      </p:sp>
      <p:sp>
        <p:nvSpPr>
          <p:cNvPr id="764" name="Google Shape;764;p59"/>
          <p:cNvSpPr txBox="1"/>
          <p:nvPr/>
        </p:nvSpPr>
        <p:spPr>
          <a:xfrm>
            <a:off x="1402888" y="127150"/>
            <a:ext cx="7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0" name="Google Shape;770;p6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1" name="Google Shape;771;p6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2" name="Google Shape;772;p6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3" name="Google Shape;773;p60"/>
          <p:cNvSpPr txBox="1"/>
          <p:nvPr/>
        </p:nvSpPr>
        <p:spPr>
          <a:xfrm>
            <a:off x="245825" y="807500"/>
            <a:ext cx="29124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Correlations with Disability/Total Population</a:t>
            </a:r>
            <a:endParaRPr sz="2200"/>
          </a:p>
        </p:txBody>
      </p:sp>
      <p:sp>
        <p:nvSpPr>
          <p:cNvPr id="774" name="Google Shape;774;p60"/>
          <p:cNvSpPr txBox="1"/>
          <p:nvPr/>
        </p:nvSpPr>
        <p:spPr>
          <a:xfrm>
            <a:off x="3364488" y="657150"/>
            <a:ext cx="55479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Bus quality vs. disabled population: negative (-0.717, p=0.045).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More disabled residents = worse bus stops.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Same for total population (-0.763).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Other assets: no significant correlations.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Example: Ward 2 (low disability, high bus quality). Ward 8 (high disability, low bus quality).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Overall, next to now difference in population types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0"/>
          <p:cNvSpPr txBox="1"/>
          <p:nvPr/>
        </p:nvSpPr>
        <p:spPr>
          <a:xfrm>
            <a:off x="1402888" y="127150"/>
            <a:ext cx="7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6" name="Google Shape;776;p60" title="5_Population_Comparis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50" y="2420850"/>
            <a:ext cx="7492777" cy="263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1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The vision</a:t>
            </a:r>
            <a:endParaRPr/>
          </a:p>
        </p:txBody>
      </p:sp>
      <p:pic>
        <p:nvPicPr>
          <p:cNvPr id="782" name="Google Shape;7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125" y="1297086"/>
            <a:ext cx="4754950" cy="315953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1"/>
          <p:cNvSpPr txBox="1"/>
          <p:nvPr/>
        </p:nvSpPr>
        <p:spPr>
          <a:xfrm>
            <a:off x="764650" y="1921625"/>
            <a:ext cx="30000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Limitations: laptop failed last 3 weeks.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No precise disability location data (CDC privacy) → used ward centroids.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Sidewalk scores ~50% for every ward (possible missing data).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Only 8 wards → interpret p-values cautiously.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Acknowledgments: classmates, friends, family, Professor Perine.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61"/>
          <p:cNvSpPr txBox="1"/>
          <p:nvPr/>
        </p:nvSpPr>
        <p:spPr>
          <a:xfrm>
            <a:off x="895525" y="745700"/>
            <a:ext cx="3159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 Limitations and Acknowledgments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